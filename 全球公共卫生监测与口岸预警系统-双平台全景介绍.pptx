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D3039"/>
                </a:solidFill>
                <a:latin typeface="Georgia"/>
                <a:ea typeface="Georgia"/>
              </a:rPr>
              <a:t>INTERNATIONAL PUBLIC HEALTH SURVEILLANCE &amp; PORT ALERT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589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A333C"/>
                </a:solidFill>
                <a:latin typeface="Noto Serif SC"/>
                <a:ea typeface="Noto Serif SC"/>
              </a:rPr>
              <a:t>全球公共卫生监测</a:t>
            </a:r>
          </a:p>
          <a:p>
            <a:pPr algn="l"/>
            <a:r>
              <a:rPr sz="4400" b="1">
                <a:solidFill>
                  <a:srgbClr val="2A333C"/>
                </a:solidFill>
                <a:latin typeface="Noto Serif SC"/>
                <a:ea typeface="Noto Serif SC"/>
              </a:rPr>
              <a:t>与口岸预警系统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611880"/>
            <a:ext cx="1371600" cy="41148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F4454"/>
                </a:solidFill>
                <a:latin typeface="Noto Sans SC"/>
                <a:ea typeface="Noto Sans SC"/>
              </a:rPr>
              <a:t>互联网监测平台 · 内网口岸预警平台 —— 一体化双平台架构</a:t>
            </a:r>
          </a:p>
          <a:p>
            <a:pPr algn="l"/>
            <a:r>
              <a:rPr sz="1200" b="0">
                <a:solidFill>
                  <a:srgbClr val="6B7782"/>
                </a:solidFill>
                <a:latin typeface="Noto Sans SC"/>
                <a:ea typeface="Noto Sans SC"/>
              </a:rPr>
              <a:t>公开数据采集、风险研判、单向摆渡，到旅客风险匹配与口岸布控的全链路闭环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81207"/>
            <a:ext cx="1600200" cy="186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数据采集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5029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5081207"/>
            <a:ext cx="1600200" cy="186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风险研判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029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5081207"/>
            <a:ext cx="1600200" cy="186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单向摆渡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5029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5081207"/>
            <a:ext cx="1783080" cy="186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口岸布控建议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InternationalPublicHealth · 项目全景介绍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46304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6F4EE"/>
                </a:solidFill>
                <a:latin typeface="Noto Serif SC"/>
                <a:ea typeface="Noto Serif SC"/>
              </a:rPr>
              <a:t>两朵云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9FB4C2"/>
                </a:solidFill>
                <a:latin typeface="Noto Sans SC"/>
                <a:ea typeface="Noto Sans SC"/>
              </a:rPr>
              <a:t>一套理念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FB4C2"/>
                </a:solidFill>
                <a:latin typeface="Noto Sans SC"/>
                <a:ea typeface="Noto Sans SC"/>
              </a:rPr>
              <a:t>互联网采 全球看</a:t>
            </a:r>
          </a:p>
          <a:p>
            <a:pPr algn="l"/>
            <a:r>
              <a:rPr sz="1300" b="0">
                <a:solidFill>
                  <a:srgbClr val="9FB4C2"/>
                </a:solidFill>
                <a:latin typeface="Noto Sans SC"/>
                <a:ea typeface="Noto Sans SC"/>
              </a:rPr>
              <a:t>内网测 口岸拦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931920"/>
            <a:ext cx="2377440" cy="4572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4434840"/>
            <a:ext cx="1828800" cy="4572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4937760"/>
            <a:ext cx="1371600" cy="4572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59893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4C2"/>
                </a:solidFill>
                <a:latin typeface="Noto Sans SC"/>
                <a:ea typeface="Noto Sans SC"/>
              </a:rPr>
              <a:t>2026 · 项目组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系统总览：一体化双平台，一张蓝图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依据《001-需求》建设两个逻辑与物理完全隔离的平台，覆盖“全球监测 → 风险研判 → 单向摆渡 → 口岸拦截”全链路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856231"/>
            <a:ext cx="1581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6F4EE"/>
                </a:solidFill>
                <a:latin typeface="Noto Sans SC"/>
                <a:ea typeface="Noto Sans SC"/>
              </a:rPr>
              <a:t>公开数据源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19019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169164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1856231"/>
            <a:ext cx="1581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6F4EE"/>
                </a:solidFill>
                <a:latin typeface="Noto Sans SC"/>
                <a:ea typeface="Noto Sans SC"/>
              </a:rPr>
              <a:t>互联网采集·清洗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4" y="19019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856231"/>
            <a:ext cx="1581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6F4EE"/>
                </a:solidFill>
                <a:latin typeface="Noto Sans SC"/>
                <a:ea typeface="Noto Sans SC"/>
              </a:rPr>
              <a:t>风险/规则/地图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19019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69164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856231"/>
            <a:ext cx="1581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6F4EE"/>
                </a:solidFill>
                <a:latin typeface="Noto Sans SC"/>
                <a:ea typeface="Noto Sans SC"/>
              </a:rPr>
              <a:t>加密签名单向数据包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9019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169164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1856231"/>
            <a:ext cx="1581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6F4EE"/>
                </a:solidFill>
                <a:latin typeface="Noto Sans SC"/>
                <a:ea typeface="Noto Sans SC"/>
              </a:rPr>
              <a:t>内网接收·验签·解密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9019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69164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1856231"/>
            <a:ext cx="1581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6F4EE"/>
                </a:solidFill>
                <a:latin typeface="Noto Sans SC"/>
                <a:ea typeface="Noto Sans SC"/>
              </a:rPr>
              <a:t>旅客匹配·预警·布控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788920"/>
            <a:ext cx="352044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788920"/>
            <a:ext cx="50292" cy="228600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29352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293522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面向全球公共卫生治理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319272"/>
            <a:ext cx="2606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对 WHO、ECDC、ProMED-mail、JHU CSSE、OWID、HealthMap 六类权威公开源做自动化采集与结构化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以六因子风险引擎量化各国疫情风险，形成四级阈值与预警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以可视化地图支撑全球态势研判与决策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788920"/>
            <a:ext cx="352044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2788920"/>
            <a:ext cx="50292" cy="228600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29352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293522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面向口岸一线实战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3319272"/>
            <a:ext cx="2606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内网落地旅客风险匹配：14 天旅居史、健康申报、中转链路实时比对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按机场/海港/陆路生成结构化布控措施与法律依据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支持单人录入、批量导入、目录自动处理与数据库直连同步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2788920"/>
            <a:ext cx="352044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2788920"/>
            <a:ext cx="50292" cy="22860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2168" y="29352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4232" y="293522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安全即架构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3319272"/>
            <a:ext cx="2606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互联网与内网不共享数据库、Redis、JWT 密钥与字段密钥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JWT audience 双向隔离，API 路由按平台裁剪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摆渡包认证加密 + 签名 + 幂等，等保三级技术基线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303520"/>
            <a:ext cx="10835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440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D3039"/>
                </a:solidFill>
                <a:latin typeface="Georgia"/>
                <a:ea typeface="Georgi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87044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权威公开数据源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15768" y="5440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D3039"/>
                </a:solidFill>
                <a:latin typeface="Georgia"/>
                <a:ea typeface="Georgia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15768" y="587044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风险研判因子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1416" y="5440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D3039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1416" y="587044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风险等级阈值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7064" y="5440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D3039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7064" y="587044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摆渡通道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82712" y="5440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D3039"/>
                </a:solidFill>
                <a:latin typeface="Georgia"/>
                <a:ea typeface="Georgia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82712" y="587044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RBAC 角色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5440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D3039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587044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独立隔离平台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INTERNET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互联网监测平台：定位与目标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外网威胁感知的前哨站 —— 持续扫描全球公开疫情信号，转化为可研判、可交付的风险情报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0292" cy="196596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4650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平台定位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130552"/>
            <a:ext cx="4389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部署于互联网安全域，面向数据分析员与只读用户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“采集 → 清洗 → 评分 → 研判 → 摆渡”的情报生产线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不接触任何旅客个人信息，专注公开数据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0352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0292" cy="196596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4650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74650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建设目标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2130552"/>
            <a:ext cx="4389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全球疫情态势分钟级感知，异常趋势自动预警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风险结论标准化、可解释、可追溯到原始来源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把“看新闻”升级为“看仪表盘”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45720" cy="1170432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1363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数据采集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六源适配器 · 调度热更新 · 退避重试 · 指纹去重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94760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794760"/>
            <a:ext cx="45720" cy="1170432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1363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疫情事件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519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等级过滤 · 关键词检索 · CSV 导出 · 模型研判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794760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9560" y="3794760"/>
            <a:ext cx="45720" cy="1170432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91363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风险研判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2519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六因子权重 · 国家排行 · 区域趋势 · 预警管理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02352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102352"/>
            <a:ext cx="45720" cy="1170432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212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全球展示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595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MapLibre+Deck.gl · 六类图层 · 14 日时间轴 · 下钻导出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5102352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5102352"/>
            <a:ext cx="45720" cy="117043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2212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数据摆渡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5595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文件/MQ/outbox 三通道 · 加密签名 · 分片续传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5102352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5102352"/>
            <a:ext cx="45720" cy="1170432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52212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规则引擎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5595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条件树 all/any/not · 版本草稿发布 · 在线测试 · 热更新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INTERNET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互联网端核心能力详解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从原始信号到风险情报的完整加工链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52044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50292" cy="237744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007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0078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六源采集与用户配置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84832"/>
            <a:ext cx="2606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信息源全部数据库化：URL、启停、固定间隔 / 五段 Cron、IANA 时区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解析方式三选一：内置结构化 / 大模型 / 混合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预设源仅首次空库导入，运行期完全由用户掌控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源失败独立记录，不阻断其他源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2044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50292" cy="237744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007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70078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六因子风险引擎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84832"/>
            <a:ext cx="2606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权重合计强制 100%，保存即生成新草稿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国家历史、趋势突变参与计算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四级阈值：低 / 中 / 高 / 极高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草稿 → 规则页测试 → 发布 → 即时热更新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54480"/>
            <a:ext cx="352044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554480"/>
            <a:ext cx="50292" cy="237744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7007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70078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全球态势地图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084832"/>
            <a:ext cx="2606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MapLibre GL + Deck.gl，本地边界数据无 CDN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六类图层：风险 / 气泡 / 热力 / 中转 / 人员流 / 内网口岸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真实 14 日时间轴拖动回放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点击国家下钻，导出 PNG 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108356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7083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333C"/>
                </a:solidFill>
                <a:latin typeface="Noto Serif SC"/>
                <a:ea typeface="Noto Serif SC"/>
              </a:rPr>
              <a:t>单向数据摆渡 · 三通道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8463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9834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4454"/>
                </a:solidFill>
                <a:latin typeface="Noto Sans SC"/>
                <a:ea typeface="Noto Sans SC"/>
              </a:rPr>
              <a:t>文件通道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3035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网闸目录投递，gzip + SHA-256 完整性校验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8463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9834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4454"/>
                </a:solidFill>
                <a:latin typeface="Noto Sans SC"/>
                <a:ea typeface="Noto Sans SC"/>
              </a:rPr>
              <a:t>消息队列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3035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RabbitMQ 受控投递，分片续传与幂等版本入库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8463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9834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4454"/>
                </a:solidFill>
                <a:latin typeface="Noto Sans SC"/>
                <a:ea typeface="Noto Sans SC"/>
              </a:rPr>
              <a:t>API Outbox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3035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HTTPS 白名单网关，全量 / 增量任务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98932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D3039"/>
                </a:solidFill>
                <a:latin typeface="Noto Sans SC"/>
                <a:ea typeface="Noto Sans SC"/>
              </a:rPr>
              <a:t>密码套件：AES-256-GCM + Ed25519 签名，或 SM4-CBC + SM2-SM3 国密双套件可选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INTRANET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内网口岸预警平台：定位与目标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口岸一线的拦截防线 —— 在物理隔离环境中完成旅客风险匹配与布控决策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0292" cy="196596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4650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平台定位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130552"/>
            <a:ext cx="4389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部署于内网安全域（Docker internal 网络），面向口岸操作员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离线镜像展示 + 摆渡接收 + 旅客研判的作战平台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与互联网展示同源同构，另增口岸图层与旅客预警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0352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0292" cy="196596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4650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74650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建设目标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2130552"/>
            <a:ext cx="4389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旅客落地即研判：14 天旅居史 × 国家风险 × 规则引擎实时匹配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布控建议附带结构化措施与法律依据，可直接执行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敏感字段全程加密脱敏，明文仅在处理内存中出现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45720" cy="1170432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1363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旅客风险预警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单人录入 · CSV/JSONL 批量导入 · 目录自动处理 · 数据库直连同步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94760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794760"/>
            <a:ext cx="45720" cy="1170432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1363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布控建议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519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按机场 / 海港 / 陆路区分的结构化措施 + 法律依据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794760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9560" y="3794760"/>
            <a:ext cx="45720" cy="1170432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91363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数据接收中心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2519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目录扫描 · RabbitMQ · 人工包导入 · API 轮询（默认关闭）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02352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102352"/>
            <a:ext cx="45720" cy="1170432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212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离线镜像地图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595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与互联网一致的全球态势，本地渲染无外联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5102352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5102352"/>
            <a:ext cx="45720" cy="1170432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2212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规则与风险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5595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内网独立的规则版本管理与风险重算能力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5102352"/>
            <a:ext cx="347472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5102352"/>
            <a:ext cx="45720" cy="1170432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52212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认证与管理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5595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LDAP/AD + 本地账号 · 管理员强制 MFA · 审计留痕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PASSENGER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内网端：旅客风险数据链路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多渠道汇聚 → 字段映射 → 风险匹配 → 布控建议的闭环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2615184" cy="64008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83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333C"/>
                </a:solidFill>
                <a:latin typeface="Noto Serif SC"/>
                <a:ea typeface="Noto Serif SC"/>
              </a:rPr>
              <a:t>单人录入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2140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证件、姓名、国籍、14 日旅居史、中转、口岸、航班、健康申报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2615184" cy="64008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783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333C"/>
                </a:solidFill>
                <a:latin typeface="Noto Serif SC"/>
                <a:ea typeface="Noto Serif SC"/>
              </a:rPr>
              <a:t>批量导入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UTF-8 CSV / JSONL 文件，导入即返回脱敏结果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0020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00200"/>
            <a:ext cx="2615184" cy="64008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783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333C"/>
                </a:solidFill>
                <a:latin typeface="Noto Serif SC"/>
                <a:ea typeface="Noto Serif SC"/>
              </a:rPr>
              <a:t>目录自动处理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2140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口岸系统投递规范文件至配置目录，后台自动解析入库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60020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600200"/>
            <a:ext cx="2615184" cy="64008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1783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333C"/>
                </a:solidFill>
                <a:latin typeface="Noto Serif SC"/>
                <a:ea typeface="Noto Serif SC"/>
              </a:rPr>
              <a:t>数据库直连同步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121408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MySQL / PostgreSQL / SQL Server / Oracle / ClickHouse / 阿里云 MaxCompute(ODPS) / AnalyticDB(ADS)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83280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5021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6F4EE"/>
                </a:solidFill>
                <a:latin typeface="Noto Sans SC"/>
                <a:ea typeface="Noto Sans SC"/>
              </a:rPr>
              <a:t>智能字段映射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822191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FB4C2"/>
                </a:solidFill>
                <a:latin typeface="Noto Sans SC"/>
                <a:ea typeface="Noto Sans SC"/>
              </a:rPr>
              <a:t>中英文列名自动识别，模糊匹配兜底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3611880"/>
            <a:ext cx="292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65576" y="3383280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35021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6F4EE"/>
                </a:solidFill>
                <a:latin typeface="Noto Sans SC"/>
                <a:ea typeface="Noto Sans SC"/>
              </a:rPr>
              <a:t>旅客入库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3822191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FB4C2"/>
                </a:solidFill>
                <a:latin typeface="Noto Sans SC"/>
                <a:ea typeface="Noto Sans SC"/>
              </a:rPr>
              <a:t>复用统一录入链路，自动触发风险匹配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3611880"/>
            <a:ext cx="292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383280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5021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6F4EE"/>
                </a:solidFill>
                <a:latin typeface="Noto Sans SC"/>
                <a:ea typeface="Noto Sans SC"/>
              </a:rPr>
              <a:t>风险引擎匹配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22191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FB4C2"/>
                </a:solidFill>
                <a:latin typeface="Noto Sans SC"/>
                <a:ea typeface="Noto Sans SC"/>
              </a:rPr>
              <a:t>旅居史 × 国家风险 × 规则树实时计算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611880"/>
            <a:ext cx="292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7782"/>
                </a:solidFill>
                <a:latin typeface="Georgia"/>
                <a:ea typeface="Georgia"/>
              </a:rPr>
              <a:t>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3383280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35021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6F4EE"/>
                </a:solidFill>
                <a:latin typeface="Noto Sans SC"/>
                <a:ea typeface="Noto Sans SC"/>
              </a:rPr>
              <a:t>布控建议生成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3822191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FB4C2"/>
                </a:solidFill>
                <a:latin typeface="Noto Sans SC"/>
                <a:ea typeface="Noto Sans SC"/>
              </a:rPr>
              <a:t>分交通方式的措施与法律依据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572000"/>
            <a:ext cx="108356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754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广泛数据库连接能力（对齐 DeepAnalyze）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202936"/>
            <a:ext cx="82296" cy="256032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1389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阿里云 MaxCompute / ODPS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1389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pyodps 专用驱动 · Endpoint + Project + AccessKey · Tunnel 直读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5550408"/>
            <a:ext cx="82296" cy="256032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5486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阿里云 AnalyticDB (ADS)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486400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MySQL 兼容 / PostgreSQL 兼容双协议接入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" y="5897880"/>
            <a:ext cx="82296" cy="256032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88720" y="58338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关系型与分析型数据库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833872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MySQL · RDS · PolarDB · GBase · PostgreSQL · SQL Server · Oracle · ClickHouse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LLM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大语言模型能力：双侧独立，安全可控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统一网关适配五类协议，配置独立落库、密钥独立加密，不经摆渡通道传输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0078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6F4EE"/>
                </a:solidFill>
                <a:latin typeface="Noto Sans SC"/>
                <a:ea typeface="Noto Sans SC"/>
              </a:rPr>
              <a:t>OpenAI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0020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70078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6F4EE"/>
                </a:solidFill>
                <a:latin typeface="Noto Sans SC"/>
                <a:ea typeface="Noto Sans SC"/>
              </a:rPr>
              <a:t>OpenAI 兼容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0020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70078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6F4EE"/>
                </a:solidFill>
                <a:latin typeface="Noto Sans SC"/>
                <a:ea typeface="Noto Sans SC"/>
              </a:rPr>
              <a:t>Anthropic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60020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70078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6F4EE"/>
                </a:solidFill>
                <a:latin typeface="Noto Sans SC"/>
                <a:ea typeface="Noto Sans SC"/>
              </a:rPr>
              <a:t>Google Gemini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160020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70078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6F4EE"/>
                </a:solidFill>
                <a:latin typeface="Noto Sans SC"/>
                <a:ea typeface="Noto Sans SC"/>
              </a:rPr>
              <a:t>Ollama 本地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48840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D3039"/>
                </a:solidFill>
                <a:latin typeface="Noto Sans SC"/>
                <a:ea typeface="Noto Sans SC"/>
              </a:rPr>
              <a:t>丰富提供商预设：OpenAI · Claude · Gemini · DeepSeek · 阿里百炼/Qwen · 智谱 GLM · Kimi · 豆包/火山方舟 · 百度千帆 · SiliconFlow · Ollama · 自定义兼容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06040"/>
            <a:ext cx="530352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606040"/>
            <a:ext cx="50292" cy="214884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75234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275234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全生命周期管理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136392"/>
            <a:ext cx="43891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获取模型：拉取供应商模型列表，一键选择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连续测试：逐模型测试连通性并显示连接时长（ms）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单模型测试：真实最小对话验证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默认模型：每侧独立指定，互不影响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密钥加密落库，API 只回传 has_api_key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06040"/>
            <a:ext cx="530352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06040"/>
            <a:ext cx="50292" cy="214884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75234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D2C6"/>
                </a:solidFill>
                <a:latin typeface="Georgia"/>
                <a:ea typeface="Georgia"/>
              </a:rPr>
              <a:t>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75234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333C"/>
                </a:solidFill>
                <a:latin typeface="Noto Serif SC"/>
                <a:ea typeface="Noto Serif SC"/>
              </a:rPr>
              <a:t>两大应用场景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136392"/>
            <a:ext cx="43891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事件研判：疫情事件详情页调用本平台默认模型辅助分析，区分事实与建议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信息提取：采集源选用大模型/混合解析，自定义提取提示词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输出仅作辅助研判，不替代来源事实</a:t>
            </a:r>
          </a:p>
          <a:p>
            <a:pPr algn="l">
              <a:spcAft>
                <a:spcPts val="35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保留原始采集文件以供核验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83480"/>
            <a:ext cx="10835640" cy="1188720"/>
          </a:xfrm>
          <a:prstGeom prst="roundRect">
            <a:avLst>
              <a:gd name="adj" fmla="val 8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663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F4454"/>
                </a:solidFill>
                <a:latin typeface="Noto Serif SC"/>
                <a:ea typeface="Noto Serif SC"/>
              </a:rPr>
              <a:t>安全边界</a:t>
            </a:r>
          </a:p>
          <a:p>
            <a:pPr algn="l"/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两侧配置分别存于各自数据库，用各自 FIELD_ENCRYPTION_KEY 加密；供应商地址仅接受无账号无参数的 HTTP(S)，禁云元数据地址，不跟随重定向；内网默认零配置零外联，物理隔离场景指向内网 Ollama / 推理服务。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安全设计：等保三级技术基线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安全不是附加项，而是架构本身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3520440" cy="5486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身份鉴别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313639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bcrypt 独立盐 + 密码复杂度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5 次失败锁定 15 分钟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TOTP 双因素，内网管理员强制 MFA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LDAP/AD 与本地故障账号并存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3520440" cy="54864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访问控制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76272"/>
            <a:ext cx="313639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五角色最小权限 RBAC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审计员与系统管理员职责分离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互联网/内网 JWT audience 双向隔离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路由与构建产物按平台裁剪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45920"/>
            <a:ext cx="3520440" cy="54864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10512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数据保护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76272"/>
            <a:ext cx="313639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旅客证件、姓名、联系方式 AES-256-GCM 字段加密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证件盲索引 + 页面脱敏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日志不记录请求体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明文仅存在于处理内存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59352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959352"/>
            <a:ext cx="3520440" cy="54864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123944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边界与摆渡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89704"/>
            <a:ext cx="313639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内网 Docker 网络 internal，前端 CSP 严格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摆渡包认证加密 + 独立签名 + SHA-256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Schema 校验 + package ID 幂等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API 轮询默认关闭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59352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59352"/>
            <a:ext cx="3520440" cy="5486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123944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333C"/>
                </a:solidFill>
                <a:latin typeface="Noto Serif SC"/>
                <a:ea typeface="Noto Serif SC"/>
              </a:rPr>
              <a:t>审计与可用性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89704"/>
            <a:ext cx="313639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全部写操作数据库留痕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JSONL 应用访问日志 + 请求 ID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PostgreSQL WAL + 每日备份 14 日保留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Redis 故障降级进程缓存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959352"/>
            <a:ext cx="7178040" cy="2148840"/>
          </a:xfrm>
          <a:prstGeom prst="roundRect">
            <a:avLst>
              <a:gd name="adj" fmla="val 7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123944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6F4EE"/>
                </a:solidFill>
                <a:latin typeface="Noto Serif SC"/>
                <a:ea typeface="Noto Serif SC"/>
              </a:rPr>
              <a:t>国密双套件与密钥职责分离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507992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FB4C2"/>
                </a:solidFill>
                <a:latin typeface="Noto Sans SC"/>
                <a:ea typeface="Noto Sans SC"/>
              </a:rPr>
              <a:t>SM2 加解密与签名各持一套密钥对：互联网只持接收方公钥用于包封，内网只持私钥解封；签名私钥仅在互联网，验签公钥在内网。</a:t>
            </a:r>
          </a:p>
          <a:p>
            <a:pPr algn="l"/>
            <a:r>
              <a:rPr sz="1000" b="0">
                <a:solidFill>
                  <a:srgbClr val="9FB4C2"/>
                </a:solidFill>
                <a:latin typeface="Noto Sans SC"/>
                <a:ea typeface="Noto Sans SC"/>
              </a:rPr>
              <a:t>生产密钥从部署密钥注入，不写入代码、日志与备份资源清单；可用 AES-256-GCM + Ed25519 或 SM4-CBC + SM2-SM3 双选。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两系统的关系（一）：单向数据流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数据只从互联网流向内网，永不开口回流 —— 这是安全模型的基石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4572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C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9D3039"/>
                </a:solidFill>
                <a:latin typeface="Noto Serif SC"/>
                <a:ea typeface="Noto Serif SC"/>
              </a:rPr>
              <a:t>互联网监测平台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F4454"/>
                </a:solidFill>
                <a:latin typeface="Noto Sans SC"/>
                <a:ea typeface="Noto Sans SC"/>
              </a:rPr>
              <a:t>产出的数据资产：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疫情事件（六源采集清洗后）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国家风险评分与预警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规则版本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全球态势镜像数据</a:t>
            </a:r>
          </a:p>
          <a:p>
            <a:pPr algn="l"/>
            <a:r>
              <a:rPr sz="1000" b="1">
                <a:solidFill>
                  <a:srgbClr val="9D3039"/>
                </a:solidFill>
                <a:latin typeface="Noto Sans SC"/>
                <a:ea typeface="Noto Sans SC"/>
              </a:rPr>
              <a:t>摆渡前：打包 → gzip → SM4/AES 加密 → SM2/Ed25519 签名 → SHA-256 指纹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606040"/>
            <a:ext cx="1234440" cy="1188720"/>
          </a:xfrm>
          <a:prstGeom prst="roundRect">
            <a:avLst>
              <a:gd name="adj" fmla="val 15000"/>
            </a:avLst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834640"/>
            <a:ext cx="1143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6F4EE"/>
                </a:solidFill>
                <a:latin typeface="Noto Serif SC"/>
                <a:ea typeface="Noto Serif SC"/>
              </a:rPr>
              <a:t>单向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6F4EE"/>
                </a:solidFill>
                <a:latin typeface="Noto Serif SC"/>
                <a:ea typeface="Noto Serif SC"/>
              </a:rPr>
              <a:t>摆渡</a:t>
            </a:r>
          </a:p>
          <a:p>
            <a:pPr algn="ctr"/>
            <a:r>
              <a:rPr sz="800" b="0">
                <a:solidFill>
                  <a:srgbClr val="F3E6C8"/>
                </a:solidFill>
                <a:latin typeface="Georgia"/>
                <a:ea typeface="Georgia"/>
              </a:rPr>
              <a:t>ONE-WAY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286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88A2E"/>
                </a:solidFill>
                <a:latin typeface="Georgia"/>
                <a:ea typeface="Georgia"/>
              </a:rPr>
              <a:t>▸▸▸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645920"/>
            <a:ext cx="4572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ED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8288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7A6E"/>
                </a:solidFill>
                <a:latin typeface="Noto Serif SC"/>
                <a:ea typeface="Noto Serif SC"/>
              </a:rPr>
              <a:t>内网口岸预警平台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212848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F4454"/>
                </a:solidFill>
                <a:latin typeface="Noto Sans SC"/>
                <a:ea typeface="Noto Sans SC"/>
              </a:rPr>
              <a:t>接收后的加工：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验签 → 解密 → Schema 校验 → 幂等入库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离线镜像展示全球态势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与本地旅客数据交叉匹配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· 生成口岸布控建议</a:t>
            </a:r>
          </a:p>
          <a:p>
            <a:pPr algn="l"/>
            <a:r>
              <a:rPr sz="1000" b="1">
                <a:solidFill>
                  <a:srgbClr val="1F7A6E"/>
                </a:solidFill>
                <a:latin typeface="Noto Sans SC"/>
                <a:ea typeface="Noto Sans SC"/>
              </a:rPr>
              <a:t>接收通道：目录扫描 / RabbitMQ / 人工包导入 / API 轮询（默认关闭）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83480"/>
            <a:ext cx="10835640" cy="1188720"/>
          </a:xfrm>
          <a:prstGeom prst="roundRect">
            <a:avLst>
              <a:gd name="adj" fmla="val 8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6636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F6F4EE"/>
                </a:solidFill>
                <a:latin typeface="Noto Serif SC"/>
                <a:ea typeface="Noto Serif SC"/>
              </a:rPr>
              <a:t>单向性铁律</a:t>
            </a:r>
          </a:p>
          <a:p>
            <a:pPr algn="l"/>
            <a:r>
              <a:rPr sz="1050" b="0">
                <a:solidFill>
                  <a:srgbClr val="9FB4C2"/>
                </a:solidFill>
                <a:latin typeface="Noto Sans SC"/>
                <a:ea typeface="Noto Sans SC"/>
              </a:rPr>
              <a:t>互联网端不会反向探测内网；内网默认零外联（无 API 轮询、无模型外呼）。跨平台 JWT 因 audience 隔离无法复用；数据库、Redis、密钥、构建产物全部独立 —— 即使一端失陷，另一端仍完整封闭。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两系统的关系（二）：全维度逻辑隔离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同源同构的镜像体验，物理与逻辑的双重隔离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691640" cy="475488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417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F4EE"/>
                </a:solidFill>
                <a:latin typeface="Noto Serif SC"/>
                <a:ea typeface="Noto Serif SC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645920"/>
            <a:ext cx="4297680" cy="475488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737360"/>
            <a:ext cx="4023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F4EE"/>
                </a:solidFill>
                <a:latin typeface="Noto Serif SC"/>
                <a:ea typeface="Noto Serif SC"/>
              </a:rPr>
              <a:t>互联网端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645920"/>
            <a:ext cx="4846320" cy="475488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737360"/>
            <a:ext cx="45720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F4EE"/>
                </a:solidFill>
                <a:latin typeface="Noto Serif SC"/>
                <a:ea typeface="Noto Serif SC"/>
              </a:rPr>
              <a:t>内网端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39696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31136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使命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139696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23113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看世界：全球疫情监测与风险研判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139696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23113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守国门：旅客风险匹配与口岸布控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15184"/>
            <a:ext cx="169164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06624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API 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615184"/>
            <a:ext cx="429768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270662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app.main:app / 8000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615184"/>
            <a:ext cx="484632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70662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app.intranet_main:app / 8002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90672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18211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专属路由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090672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318211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数据源、采集、风险重算、发送任务、outbox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090672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1821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旅客、口岸建议、接收器、数据库直连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566160"/>
            <a:ext cx="169164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65760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前端入口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566160"/>
            <a:ext cx="429768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6576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internet.html / dist-internet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566160"/>
            <a:ext cx="484632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intranet.html / dist-intranet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041648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13308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数据库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4041648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413308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global_health_internet（独立 SQLite/PG）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041648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41330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global_health_intranet（独立 SQLite/PG）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517136"/>
            <a:ext cx="169164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608576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缓存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517136"/>
            <a:ext cx="429768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600" y="46085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internet-redis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4517136"/>
            <a:ext cx="484632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460857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intranet-redis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992624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084064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容器网络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992624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600" y="508406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internet_zone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4992624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50840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intranet_zone（internal，无外联）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5468112"/>
            <a:ext cx="169164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55955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LLM 配置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5468112"/>
            <a:ext cx="429768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555955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独立 llm_providers 表 + 字段加密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468112"/>
            <a:ext cx="4846320" cy="457200"/>
          </a:xfrm>
          <a:prstGeom prst="rect">
            <a:avLst/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80" y="555955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独立 llm_providers 表 + 字段加密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" y="594360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603504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F4454"/>
                </a:solidFill>
                <a:latin typeface="Noto Sans SC"/>
                <a:ea typeface="Noto Sans SC"/>
              </a:rPr>
              <a:t>JWT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5943600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14600" y="603504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audience=internet，禁止内网使用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5943600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60350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audience=intranet，禁止互联网使用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652881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D3039"/>
                </a:solidFill>
                <a:latin typeface="Noto Sans SC"/>
                <a:ea typeface="Noto Sans SC"/>
              </a:rPr>
              <a:t>两平台共享的只有：设计语言、风险模型理念、规则树结构与摆渡数据 Schema —— 一切凭据与状态皆不共享。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ROLES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角色体系与最小权限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五角色分工，职责分离，覆盖两平台全部操作面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2084831" cy="50292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2084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6F4EE"/>
                </a:solidFill>
                <a:latin typeface="Noto Sans SC"/>
                <a:ea typeface="Noto Sans SC"/>
              </a:rPr>
              <a:t>系统管理员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179222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用户与角色管理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全量备份与恢复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平台统计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MFA 管理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无审计日志查看权（职责分离）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3" y="169164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9503" y="1691640"/>
            <a:ext cx="2084831" cy="50292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3" y="1810512"/>
            <a:ext cx="2084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6F4EE"/>
                </a:solidFill>
                <a:latin typeface="Noto Sans SC"/>
                <a:ea typeface="Noto Sans SC"/>
              </a:rPr>
              <a:t>数据分析员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5" y="2359152"/>
            <a:ext cx="179222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信息源配置与采集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风险模型权重编辑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规则编辑与发布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摆渡任务管理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6" y="169164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3206" y="1691640"/>
            <a:ext cx="2084831" cy="50292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6" y="1810512"/>
            <a:ext cx="2084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6F4EE"/>
                </a:solidFill>
                <a:latin typeface="Noto Sans SC"/>
                <a:ea typeface="Noto Sans SC"/>
              </a:rPr>
              <a:t>口岸操作员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798" y="2359152"/>
            <a:ext cx="179222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旅客录入与批量导入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数据库直连同步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风险匹配查看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布控建议生成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09" y="169164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6909" y="1691640"/>
            <a:ext cx="2084831" cy="502920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09" y="1810512"/>
            <a:ext cx="2084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6F4EE"/>
                </a:solidFill>
                <a:latin typeface="Noto Sans SC"/>
                <a:ea typeface="Noto Sans SC"/>
              </a:rPr>
              <a:t>审计员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1" y="2359152"/>
            <a:ext cx="179222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只读审计日志查询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日志导出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无任何写操作权限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0612" y="169164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0612" y="1691640"/>
            <a:ext cx="2084831" cy="502920"/>
          </a:xfrm>
          <a:prstGeom prst="rect">
            <a:avLst/>
          </a:prstGeom>
          <a:solidFill>
            <a:srgbClr val="6B7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2" y="1810512"/>
            <a:ext cx="2084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6F4EE"/>
                </a:solidFill>
                <a:latin typeface="Noto Sans SC"/>
                <a:ea typeface="Noto Sans SC"/>
              </a:rPr>
              <a:t>只读用户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4" y="2359152"/>
            <a:ext cx="179222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全球态势查看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事件与风险浏览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· 地图图层查看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25780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40680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F4454"/>
                </a:solidFill>
                <a:latin typeface="Noto Serif SC"/>
                <a:ea typeface="Noto Serif SC"/>
              </a:rPr>
              <a:t>账号安全基线</a:t>
            </a:r>
          </a:p>
          <a:p>
            <a:pPr algn="l"/>
            <a:r>
              <a:rPr sz="1000" b="0">
                <a:solidFill>
                  <a:srgbClr val="6B7782"/>
                </a:solidFill>
                <a:latin typeface="Noto Sans SC"/>
                <a:ea typeface="Noto Sans SC"/>
              </a:rPr>
              <a:t>密码至少 10 位含大小写字母、数字与特殊字符；连续 5 次失败锁定 15 分钟；浏览器 30 分钟无操作会话超时；管理员首次登录须启用 TOTP 双因素。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技术架构与工程实践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现代全栈 + 严格隔离 + 可验证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633472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2633472" cy="64008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333C"/>
                </a:solidFill>
                <a:latin typeface="Noto Serif SC"/>
                <a:ea typeface="Noto Serif SC"/>
              </a:rPr>
              <a:t>后端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2286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FastAPI (ASGI) 双入口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SQLAlchemy 2.0 + Alembic 迁移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PostgreSQL WAL / SQLite 开发库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APScheduler 调度热更新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pytest 覆盖率门禁 ≥70%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45920"/>
            <a:ext cx="2633472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8144" y="1645920"/>
            <a:ext cx="2633472" cy="64008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82880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333C"/>
                </a:solidFill>
                <a:latin typeface="Noto Serif SC"/>
                <a:ea typeface="Noto Serif SC"/>
              </a:rP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212848"/>
            <a:ext cx="2286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React 18 + TypeScript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Vite 双入口双构建产物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MapLibre GL + Deck.gl 可视化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本地 world-atlas 边界，零 CDN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lucide 图标体系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45920"/>
            <a:ext cx="2633472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2633472" cy="6400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2880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333C"/>
                </a:solidFill>
                <a:latin typeface="Noto Serif SC"/>
                <a:ea typeface="Noto Serif SC"/>
              </a:rPr>
              <a:t>数据与消息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12848"/>
            <a:ext cx="2286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RabbitMQ 摆渡消息通道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Redis 缓存 + 故障降级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gzip + SHA-256 指纹去重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分片续传与幂等入库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JSONL 结构化日志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1645920"/>
            <a:ext cx="2633472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1645920"/>
            <a:ext cx="2633472" cy="64008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82880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333C"/>
                </a:solidFill>
                <a:latin typeface="Noto Serif SC"/>
                <a:ea typeface="Noto Serif SC"/>
              </a:rPr>
              <a:t>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212848"/>
            <a:ext cx="2286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Docker Compose 双平台隔离部署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离线镜像交付包（内网专用）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网闸目录 / 单向 MQ / 白名单网关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环境变量注入密钥</a:t>
            </a:r>
          </a:p>
          <a:p>
            <a:pPr algn="l">
              <a:spcAft>
                <a:spcPts val="600"/>
              </a:spcAft>
            </a:pPr>
            <a:r>
              <a:rPr sz="980" b="0">
                <a:solidFill>
                  <a:srgbClr val="6B7782"/>
                </a:solidFill>
                <a:latin typeface="Noto Sans SC"/>
                <a:ea typeface="Noto Sans SC"/>
              </a:rPr>
              <a:t>· WAF / 反向代理 / 堡垒机接入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86400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5099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6F4EE"/>
                </a:solidFill>
                <a:latin typeface="Noto Sans SC"/>
                <a:ea typeface="Noto Sans SC"/>
              </a:rPr>
              <a:t>工程信条：互联网与内网使用不同 ASGI 入口、数据库、Redis、前端入口、构建产物和 Docker 镜像 —— 隔离即架构，镜像即体验。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86384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D3039"/>
                </a:solidFill>
                <a:latin typeface="Noto Sans SC"/>
                <a:ea typeface="Noto Sans SC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333C"/>
                </a:solidFill>
                <a:latin typeface="Noto Serif SC"/>
                <a:ea typeface="Noto Serif SC"/>
              </a:rPr>
              <a:t>系统价值与建设成效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782"/>
                </a:solidFill>
                <a:latin typeface="Noto Sans SC"/>
                <a:ea typeface="Noto Sans SC"/>
              </a:rPr>
              <a:t>从“被动看新闻”到“主动拦风险”的公共卫生治理升级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2633472" cy="594360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6F4EE"/>
                </a:solidFill>
                <a:latin typeface="Noto Serif SC"/>
                <a:ea typeface="Noto Serif SC"/>
              </a:rPr>
              <a:t>早发现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2231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六源自动采集 + 趋势突变检测，全球疫情信号分钟级进入视野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9164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8144" y="1691640"/>
            <a:ext cx="2633472" cy="594360"/>
          </a:xfrm>
          <a:prstGeom prst="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828800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6F4EE"/>
                </a:solidFill>
                <a:latin typeface="Noto Serif SC"/>
                <a:ea typeface="Noto Serif SC"/>
              </a:rPr>
              <a:t>会研判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14600"/>
            <a:ext cx="2231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六因子可解释评分 + 规则树版本管理，结论可追溯、可复核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2633472" cy="59436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828800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6F4EE"/>
                </a:solidFill>
                <a:latin typeface="Noto Serif SC"/>
                <a:ea typeface="Noto Serif SC"/>
              </a:rPr>
              <a:t>能落地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514600"/>
            <a:ext cx="2231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风险结论单向摆渡至口岸一线，直接转化为布控动作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169164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1691640"/>
            <a:ext cx="2633472" cy="594360"/>
          </a:xfrm>
          <a:prstGeom prst="rect">
            <a:avLst/>
          </a:prstGeom>
          <a:solidFill>
            <a:srgbClr val="2F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1828800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6F4EE"/>
                </a:solidFill>
                <a:latin typeface="Noto Serif SC"/>
                <a:ea typeface="Noto Serif SC"/>
              </a:rPr>
              <a:t>守得住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2231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782"/>
                </a:solidFill>
                <a:latin typeface="Noto Sans SC"/>
                <a:ea typeface="Noto Sans SC"/>
              </a:rPr>
              <a:t>旅客数据字段加密全程脱敏；等保三级基线；国密可选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69080"/>
            <a:ext cx="10835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51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333C"/>
                </a:solidFill>
                <a:latin typeface="Noto Serif SC"/>
                <a:ea typeface="Noto Serif SC"/>
              </a:rPr>
              <a:t>建设里程碑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7548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709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4454"/>
                </a:solidFill>
                <a:latin typeface="Noto Sans SC"/>
                <a:ea typeface="Noto Sans SC"/>
              </a:rPr>
              <a:t>需求蓝图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0176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《001-需求》确立双平台边界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4855464"/>
            <a:ext cx="457200" cy="32004"/>
          </a:xfrm>
          <a:prstGeom prst="rect">
            <a:avLst/>
          </a:prstGeom>
          <a:solidFill>
            <a:srgbClr val="E9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39312" y="47548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4709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4454"/>
                </a:solidFill>
                <a:latin typeface="Noto Sans SC"/>
                <a:ea typeface="Noto Sans SC"/>
              </a:rPr>
              <a:t>平台落地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500176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采集/风险/地图/摆渡/旅客全功能实现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855464"/>
            <a:ext cx="457200" cy="32004"/>
          </a:xfrm>
          <a:prstGeom prst="rect">
            <a:avLst/>
          </a:prstGeom>
          <a:solidFill>
            <a:srgbClr val="E9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18504" y="47548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4264" y="4709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4454"/>
                </a:solidFill>
                <a:latin typeface="Noto Sans SC"/>
                <a:ea typeface="Noto Sans SC"/>
              </a:rPr>
              <a:t>智能增强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500176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大模型研判 + 连续测试 + 获取模型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14232" y="4855464"/>
            <a:ext cx="457200" cy="32004"/>
          </a:xfrm>
          <a:prstGeom prst="rect">
            <a:avLst/>
          </a:prstGeom>
          <a:solidFill>
            <a:srgbClr val="E9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97696" y="47548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4709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4454"/>
                </a:solidFill>
                <a:latin typeface="Noto Sans SC"/>
                <a:ea typeface="Noto Sans SC"/>
              </a:rPr>
              <a:t>数据扩展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500176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782"/>
                </a:solidFill>
                <a:latin typeface="Noto Sans SC"/>
                <a:ea typeface="Noto Sans SC"/>
              </a:rPr>
              <a:t>MaxCompute / ADS 等广泛数据库直连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40135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782"/>
                </a:solidFill>
                <a:latin typeface="Georgia"/>
                <a:ea typeface="Georgia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4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9D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6F4EE"/>
                </a:solidFill>
                <a:latin typeface="Noto Serif SC"/>
                <a:ea typeface="Noto Serif SC"/>
              </a:rPr>
              <a:t>互联网采全球之信号，内网守国门之一线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47" y="3520440"/>
            <a:ext cx="1371600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9FB4C2"/>
                </a:solidFill>
                <a:latin typeface="Noto Sans SC"/>
                <a:ea typeface="Noto Sans SC"/>
              </a:rPr>
              <a:t>一套理念 · 两朵云 · 全链路闭环</a:t>
            </a:r>
          </a:p>
          <a:p>
            <a:pPr algn="ctr"/>
            <a:r>
              <a:rPr sz="1200" b="0">
                <a:solidFill>
                  <a:srgbClr val="7E93A3"/>
                </a:solidFill>
                <a:latin typeface="Noto Sans SC"/>
                <a:ea typeface="Noto Sans SC"/>
              </a:rPr>
              <a:t>采集 — 研判 — 摆渡 — 匹配 — 布控，每一步皆可审计、可追溯、可验证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8407" y="512064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3A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8407" y="5186363"/>
            <a:ext cx="1554480" cy="186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6F4EE"/>
                </a:solidFill>
                <a:latin typeface="Noto Sans SC"/>
                <a:ea typeface="Noto Sans SC"/>
              </a:rPr>
              <a:t>等保三级基线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0047" y="512064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3A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10047" y="5186363"/>
            <a:ext cx="1554480" cy="186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6F4EE"/>
                </a:solidFill>
                <a:latin typeface="Noto Sans SC"/>
                <a:ea typeface="Noto Sans SC"/>
              </a:rPr>
              <a:t>国密可选套件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1687" y="512064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3A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1687" y="5186363"/>
            <a:ext cx="1554480" cy="186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6F4EE"/>
                </a:solidFill>
                <a:latin typeface="Noto Sans SC"/>
                <a:ea typeface="Noto Sans SC"/>
              </a:rPr>
              <a:t>零外联内网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E93A3"/>
                </a:solidFill>
                <a:latin typeface="Georgia"/>
                <a:ea typeface="Georgia"/>
              </a:rPr>
              <a:t>THANK YOU · 全球公共卫生监测与口岸预警系统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